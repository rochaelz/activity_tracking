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 Bold" charset="1" panose="00000800000000000000"/>
      <p:regular r:id="rId19"/>
    </p:embeddedFont>
    <p:embeddedFont>
      <p:font typeface="Manjari" charset="1" panose="02000503000000000000"/>
      <p:regular r:id="rId20"/>
    </p:embeddedFont>
    <p:embeddedFont>
      <p:font typeface="Manjari Bold" charset="1" panose="02000503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417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069174" y="6495562"/>
            <a:ext cx="5388429" cy="4114800"/>
          </a:xfrm>
          <a:custGeom>
            <a:avLst/>
            <a:gdLst/>
            <a:ahLst/>
            <a:cxnLst/>
            <a:rect r="r" b="b" t="t" l="l"/>
            <a:pathLst>
              <a:path h="4114800" w="5388429">
                <a:moveTo>
                  <a:pt x="0" y="0"/>
                </a:moveTo>
                <a:lnTo>
                  <a:pt x="5388429" y="0"/>
                </a:lnTo>
                <a:lnTo>
                  <a:pt x="53884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43707" y="3577497"/>
            <a:ext cx="16600587" cy="172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00"/>
              </a:lnSpc>
            </a:pPr>
            <a:r>
              <a:rPr lang="en-US" sz="9500" b="true">
                <a:solidFill>
                  <a:srgbClr val="1B1919"/>
                </a:solidFill>
                <a:latin typeface="Poppins Bold"/>
                <a:ea typeface="Poppins Bold"/>
                <a:cs typeface="Poppins Bold"/>
                <a:sym typeface="Poppins Bold"/>
              </a:rPr>
              <a:t>Die Entstehung von Python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06767" y="5647836"/>
            <a:ext cx="2874466" cy="847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500">
                <a:solidFill>
                  <a:srgbClr val="9E9E9E"/>
                </a:solidFill>
                <a:latin typeface="Manjari"/>
                <a:ea typeface="Manjari"/>
                <a:cs typeface="Manjari"/>
                <a:sym typeface="Manjari"/>
              </a:rPr>
              <a:t>Michael Gerdt </a:t>
            </a:r>
          </a:p>
          <a:p>
            <a:pPr algn="ctr">
              <a:lnSpc>
                <a:spcPts val="3150"/>
              </a:lnSpc>
            </a:pPr>
            <a:r>
              <a:rPr lang="en-US" sz="3500">
                <a:solidFill>
                  <a:srgbClr val="9E9E9E"/>
                </a:solidFill>
                <a:latin typeface="Manjari"/>
                <a:ea typeface="Manjari"/>
                <a:cs typeface="Manjari"/>
                <a:sym typeface="Manjari"/>
              </a:rPr>
              <a:t>11/1</a:t>
            </a: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15968745" y="-323362"/>
            <a:ext cx="5388429" cy="4114800"/>
          </a:xfrm>
          <a:custGeom>
            <a:avLst/>
            <a:gdLst/>
            <a:ahLst/>
            <a:cxnLst/>
            <a:rect r="r" b="b" t="t" l="l"/>
            <a:pathLst>
              <a:path h="4114800" w="5388429">
                <a:moveTo>
                  <a:pt x="0" y="4114800"/>
                </a:moveTo>
                <a:lnTo>
                  <a:pt x="5388429" y="4114800"/>
                </a:lnTo>
                <a:lnTo>
                  <a:pt x="538842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087689" y="4033837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2087689" y="5161667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087689" y="6289497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087689" y="7417327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087689" y="8545156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688272" y="4014787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9688272" y="5142617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688272" y="6270447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688272" y="7398277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-496183" y="-496183"/>
            <a:ext cx="1524883" cy="152488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A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259300" y="-496183"/>
            <a:ext cx="1524883" cy="152488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A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496183" y="9258300"/>
            <a:ext cx="1524883" cy="152488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A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259300" y="9258300"/>
            <a:ext cx="1524883" cy="152488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A5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7989187" y="3305740"/>
            <a:ext cx="532765" cy="532765"/>
          </a:xfrm>
          <a:custGeom>
            <a:avLst/>
            <a:gdLst/>
            <a:ahLst/>
            <a:cxnLst/>
            <a:rect r="r" b="b" t="t" l="l"/>
            <a:pathLst>
              <a:path h="532765" w="532765">
                <a:moveTo>
                  <a:pt x="0" y="0"/>
                </a:moveTo>
                <a:lnTo>
                  <a:pt x="532765" y="0"/>
                </a:lnTo>
                <a:lnTo>
                  <a:pt x="532765" y="532765"/>
                </a:lnTo>
                <a:lnTo>
                  <a:pt x="0" y="532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369334" y="3277165"/>
            <a:ext cx="217188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Einleitung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55966" y="1569739"/>
            <a:ext cx="3776067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B1919"/>
                </a:solidFill>
                <a:latin typeface="Poppins Bold"/>
                <a:ea typeface="Poppins Bold"/>
                <a:cs typeface="Poppins Bold"/>
                <a:sym typeface="Poppins Bold"/>
              </a:rPr>
              <a:t>Gliederung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369334" y="4415542"/>
            <a:ext cx="5004075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Der Erfinder und</a:t>
            </a:r>
            <a:r>
              <a:rPr lang="en-US" sz="31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 der Start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369334" y="5563692"/>
            <a:ext cx="5210595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Wa</a:t>
            </a:r>
            <a:r>
              <a:rPr lang="en-US" sz="33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rum heißt es Python?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369334" y="6699072"/>
            <a:ext cx="437425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Py</a:t>
            </a:r>
            <a:r>
              <a:rPr lang="en-US" sz="33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thon 1.0 bis 2.0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369334" y="7826902"/>
            <a:ext cx="437425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Pytho</a:t>
            </a:r>
            <a:r>
              <a:rPr lang="en-US" sz="33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n 3.0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969917" y="4400302"/>
            <a:ext cx="560390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Warum so beliebt?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969917" y="5523617"/>
            <a:ext cx="521059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Faz</a:t>
            </a:r>
            <a:r>
              <a:rPr lang="en-US" sz="33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it und Ausblick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969917" y="6651447"/>
            <a:ext cx="437425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Quellen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969917" y="3258115"/>
            <a:ext cx="413961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Der Chef tritt zurück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383141" y="3277165"/>
            <a:ext cx="4847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383141" y="4400302"/>
            <a:ext cx="4847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383141" y="5523439"/>
            <a:ext cx="4847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383141" y="6646576"/>
            <a:ext cx="4847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4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383141" y="7769713"/>
            <a:ext cx="4847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957173" y="3277165"/>
            <a:ext cx="4847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6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957173" y="4400302"/>
            <a:ext cx="4847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7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957173" y="5523439"/>
            <a:ext cx="4847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8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957173" y="6646576"/>
            <a:ext cx="4847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9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7989187" y="4447927"/>
            <a:ext cx="532765" cy="532765"/>
          </a:xfrm>
          <a:custGeom>
            <a:avLst/>
            <a:gdLst/>
            <a:ahLst/>
            <a:cxnLst/>
            <a:rect r="r" b="b" t="t" l="l"/>
            <a:pathLst>
              <a:path h="532765" w="532765">
                <a:moveTo>
                  <a:pt x="0" y="0"/>
                </a:moveTo>
                <a:lnTo>
                  <a:pt x="532765" y="0"/>
                </a:lnTo>
                <a:lnTo>
                  <a:pt x="532765" y="532765"/>
                </a:lnTo>
                <a:lnTo>
                  <a:pt x="0" y="532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7989187" y="5590114"/>
            <a:ext cx="532765" cy="532765"/>
          </a:xfrm>
          <a:custGeom>
            <a:avLst/>
            <a:gdLst/>
            <a:ahLst/>
            <a:cxnLst/>
            <a:rect r="r" b="b" t="t" l="l"/>
            <a:pathLst>
              <a:path h="532765" w="532765">
                <a:moveTo>
                  <a:pt x="0" y="0"/>
                </a:moveTo>
                <a:lnTo>
                  <a:pt x="532765" y="0"/>
                </a:lnTo>
                <a:lnTo>
                  <a:pt x="532765" y="532765"/>
                </a:lnTo>
                <a:lnTo>
                  <a:pt x="0" y="532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7989187" y="6732301"/>
            <a:ext cx="532765" cy="532765"/>
          </a:xfrm>
          <a:custGeom>
            <a:avLst/>
            <a:gdLst/>
            <a:ahLst/>
            <a:cxnLst/>
            <a:rect r="r" b="b" t="t" l="l"/>
            <a:pathLst>
              <a:path h="532765" w="532765">
                <a:moveTo>
                  <a:pt x="0" y="0"/>
                </a:moveTo>
                <a:lnTo>
                  <a:pt x="532765" y="0"/>
                </a:lnTo>
                <a:lnTo>
                  <a:pt x="532765" y="532765"/>
                </a:lnTo>
                <a:lnTo>
                  <a:pt x="0" y="532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7989187" y="7874488"/>
            <a:ext cx="532765" cy="532765"/>
          </a:xfrm>
          <a:custGeom>
            <a:avLst/>
            <a:gdLst/>
            <a:ahLst/>
            <a:cxnLst/>
            <a:rect r="r" b="b" t="t" l="l"/>
            <a:pathLst>
              <a:path h="532765" w="532765">
                <a:moveTo>
                  <a:pt x="0" y="0"/>
                </a:moveTo>
                <a:lnTo>
                  <a:pt x="532765" y="0"/>
                </a:lnTo>
                <a:lnTo>
                  <a:pt x="532765" y="532765"/>
                </a:lnTo>
                <a:lnTo>
                  <a:pt x="0" y="532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5591820" y="3267640"/>
            <a:ext cx="532765" cy="532765"/>
          </a:xfrm>
          <a:custGeom>
            <a:avLst/>
            <a:gdLst/>
            <a:ahLst/>
            <a:cxnLst/>
            <a:rect r="r" b="b" t="t" l="l"/>
            <a:pathLst>
              <a:path h="532765" w="532765">
                <a:moveTo>
                  <a:pt x="0" y="0"/>
                </a:moveTo>
                <a:lnTo>
                  <a:pt x="532765" y="0"/>
                </a:lnTo>
                <a:lnTo>
                  <a:pt x="532765" y="532765"/>
                </a:lnTo>
                <a:lnTo>
                  <a:pt x="0" y="532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5591820" y="4409827"/>
            <a:ext cx="532765" cy="532765"/>
          </a:xfrm>
          <a:custGeom>
            <a:avLst/>
            <a:gdLst/>
            <a:ahLst/>
            <a:cxnLst/>
            <a:rect r="r" b="b" t="t" l="l"/>
            <a:pathLst>
              <a:path h="532765" w="532765">
                <a:moveTo>
                  <a:pt x="0" y="0"/>
                </a:moveTo>
                <a:lnTo>
                  <a:pt x="532765" y="0"/>
                </a:lnTo>
                <a:lnTo>
                  <a:pt x="532765" y="532765"/>
                </a:lnTo>
                <a:lnTo>
                  <a:pt x="0" y="532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5591820" y="5552014"/>
            <a:ext cx="532765" cy="532765"/>
          </a:xfrm>
          <a:custGeom>
            <a:avLst/>
            <a:gdLst/>
            <a:ahLst/>
            <a:cxnLst/>
            <a:rect r="r" b="b" t="t" l="l"/>
            <a:pathLst>
              <a:path h="532765" w="532765">
                <a:moveTo>
                  <a:pt x="0" y="0"/>
                </a:moveTo>
                <a:lnTo>
                  <a:pt x="532765" y="0"/>
                </a:lnTo>
                <a:lnTo>
                  <a:pt x="532765" y="532765"/>
                </a:lnTo>
                <a:lnTo>
                  <a:pt x="0" y="532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5591820" y="6694201"/>
            <a:ext cx="532765" cy="532765"/>
          </a:xfrm>
          <a:custGeom>
            <a:avLst/>
            <a:gdLst/>
            <a:ahLst/>
            <a:cxnLst/>
            <a:rect r="r" b="b" t="t" l="l"/>
            <a:pathLst>
              <a:path h="532765" w="532765">
                <a:moveTo>
                  <a:pt x="0" y="0"/>
                </a:moveTo>
                <a:lnTo>
                  <a:pt x="532765" y="0"/>
                </a:lnTo>
                <a:lnTo>
                  <a:pt x="532765" y="532765"/>
                </a:lnTo>
                <a:lnTo>
                  <a:pt x="0" y="532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81663" y="3286002"/>
            <a:ext cx="4386990" cy="5316575"/>
          </a:xfrm>
          <a:custGeom>
            <a:avLst/>
            <a:gdLst/>
            <a:ahLst/>
            <a:cxnLst/>
            <a:rect r="r" b="b" t="t" l="l"/>
            <a:pathLst>
              <a:path h="5316575" w="4386990">
                <a:moveTo>
                  <a:pt x="0" y="0"/>
                </a:moveTo>
                <a:lnTo>
                  <a:pt x="4386990" y="0"/>
                </a:lnTo>
                <a:lnTo>
                  <a:pt x="4386990" y="5316575"/>
                </a:lnTo>
                <a:lnTo>
                  <a:pt x="0" y="53165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43862" y="1569739"/>
            <a:ext cx="3400276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B1919"/>
                </a:solidFill>
                <a:latin typeface="Poppins Bold"/>
                <a:ea typeface="Poppins Bold"/>
                <a:cs typeface="Poppins Bold"/>
                <a:sym typeface="Poppins Bold"/>
              </a:rPr>
              <a:t>Einleitung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35427" y="3945309"/>
            <a:ext cx="8623873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Programmiersprache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35427" y="5321354"/>
            <a:ext cx="8623873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Bekannteste Programmiersprache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35427" y="6697399"/>
            <a:ext cx="8623873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R</a:t>
            </a:r>
            <a:r>
              <a:rPr lang="en-US" sz="35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elevanz für moderne Technologien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496183" y="-496183"/>
            <a:ext cx="1524883" cy="152488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A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259300" y="-496183"/>
            <a:ext cx="1524883" cy="152488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A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496183" y="9258300"/>
            <a:ext cx="1524883" cy="152488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A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259300" y="9258300"/>
            <a:ext cx="1524883" cy="152488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A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0" y="9706610"/>
            <a:ext cx="118688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[2] [8]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6651" y="1392843"/>
            <a:ext cx="8534698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B1919"/>
                </a:solidFill>
                <a:latin typeface="Poppins Bold"/>
                <a:ea typeface="Poppins Bold"/>
                <a:cs typeface="Poppins Bold"/>
                <a:sym typeface="Poppins Bold"/>
              </a:rPr>
              <a:t>Der Erfinder und</a:t>
            </a:r>
            <a:r>
              <a:rPr lang="en-US" b="true" sz="5199">
                <a:solidFill>
                  <a:srgbClr val="1B1919"/>
                </a:solidFill>
                <a:latin typeface="Poppins Bold"/>
                <a:ea typeface="Poppins Bold"/>
                <a:cs typeface="Poppins Bold"/>
                <a:sym typeface="Poppins Bold"/>
              </a:rPr>
              <a:t> der Start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91983" y="3869437"/>
            <a:ext cx="8623873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Entwickl</a:t>
            </a: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er: Guido van Rossum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91983" y="4683507"/>
            <a:ext cx="8623873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Angefangen mit der Entwicklung e</a:t>
            </a: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nde der 80er Jahre (Dezember 1989)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91983" y="6059552"/>
            <a:ext cx="8623873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Entw</a:t>
            </a: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icklung in der Freizeit während der Weihnachtsferien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91983" y="7435597"/>
            <a:ext cx="8623873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G</a:t>
            </a: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rundidee: Eine einfache, lesbare und intuitive Sprache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045971" y="2660938"/>
            <a:ext cx="11439093" cy="7626062"/>
          </a:xfrm>
          <a:custGeom>
            <a:avLst/>
            <a:gdLst/>
            <a:ahLst/>
            <a:cxnLst/>
            <a:rect r="r" b="b" t="t" l="l"/>
            <a:pathLst>
              <a:path h="7626062" w="11439093">
                <a:moveTo>
                  <a:pt x="0" y="0"/>
                </a:moveTo>
                <a:lnTo>
                  <a:pt x="11439093" y="0"/>
                </a:lnTo>
                <a:lnTo>
                  <a:pt x="11439093" y="7626062"/>
                </a:lnTo>
                <a:lnTo>
                  <a:pt x="0" y="76260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30600" y="-20574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4873794" y="-1348132"/>
            <a:ext cx="2385506" cy="2376832"/>
          </a:xfrm>
          <a:custGeom>
            <a:avLst/>
            <a:gdLst/>
            <a:ahLst/>
            <a:cxnLst/>
            <a:rect r="r" b="b" t="t" l="l"/>
            <a:pathLst>
              <a:path h="2376832" w="2385506">
                <a:moveTo>
                  <a:pt x="0" y="2376832"/>
                </a:moveTo>
                <a:lnTo>
                  <a:pt x="2385506" y="2376832"/>
                </a:lnTo>
                <a:lnTo>
                  <a:pt x="2385506" y="0"/>
                </a:lnTo>
                <a:lnTo>
                  <a:pt x="0" y="0"/>
                </a:lnTo>
                <a:lnTo>
                  <a:pt x="0" y="23768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700000">
            <a:off x="270643" y="283047"/>
            <a:ext cx="1516114" cy="1491305"/>
          </a:xfrm>
          <a:custGeom>
            <a:avLst/>
            <a:gdLst/>
            <a:ahLst/>
            <a:cxnLst/>
            <a:rect r="r" b="b" t="t" l="l"/>
            <a:pathLst>
              <a:path h="1491305" w="1516114">
                <a:moveTo>
                  <a:pt x="0" y="0"/>
                </a:moveTo>
                <a:lnTo>
                  <a:pt x="1516114" y="0"/>
                </a:lnTo>
                <a:lnTo>
                  <a:pt x="1516114" y="1491306"/>
                </a:lnTo>
                <a:lnTo>
                  <a:pt x="0" y="14913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-911174" y="-2692541"/>
            <a:ext cx="3879747" cy="3047365"/>
          </a:xfrm>
          <a:custGeom>
            <a:avLst/>
            <a:gdLst/>
            <a:ahLst/>
            <a:cxnLst/>
            <a:rect r="r" b="b" t="t" l="l"/>
            <a:pathLst>
              <a:path h="3047365" w="3879747">
                <a:moveTo>
                  <a:pt x="3879748" y="3047365"/>
                </a:moveTo>
                <a:lnTo>
                  <a:pt x="0" y="3047365"/>
                </a:lnTo>
                <a:lnTo>
                  <a:pt x="0" y="0"/>
                </a:lnTo>
                <a:lnTo>
                  <a:pt x="3879748" y="0"/>
                </a:lnTo>
                <a:lnTo>
                  <a:pt x="3879748" y="3047365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0" y="9706610"/>
            <a:ext cx="117187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[1] [6]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918" y="3508663"/>
            <a:ext cx="9476208" cy="5330367"/>
          </a:xfrm>
          <a:custGeom>
            <a:avLst/>
            <a:gdLst/>
            <a:ahLst/>
            <a:cxnLst/>
            <a:rect r="r" b="b" t="t" l="l"/>
            <a:pathLst>
              <a:path h="5330367" w="9476208">
                <a:moveTo>
                  <a:pt x="0" y="0"/>
                </a:moveTo>
                <a:lnTo>
                  <a:pt x="9476209" y="0"/>
                </a:lnTo>
                <a:lnTo>
                  <a:pt x="9476209" y="5330367"/>
                </a:lnTo>
                <a:lnTo>
                  <a:pt x="0" y="5330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71083" y="1392843"/>
            <a:ext cx="8345835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B1919"/>
                </a:solidFill>
                <a:latin typeface="Poppins Bold"/>
                <a:ea typeface="Poppins Bold"/>
                <a:cs typeface="Poppins Bold"/>
                <a:sym typeface="Poppins Bold"/>
              </a:rPr>
              <a:t>Warum heißt</a:t>
            </a:r>
            <a:r>
              <a:rPr lang="en-US" b="true" sz="5199">
                <a:solidFill>
                  <a:srgbClr val="1B1919"/>
                </a:solidFill>
                <a:latin typeface="Poppins Bold"/>
                <a:ea typeface="Poppins Bold"/>
                <a:cs typeface="Poppins Bold"/>
                <a:sym typeface="Poppins Bold"/>
              </a:rPr>
              <a:t> es Python?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64127" y="4083744"/>
            <a:ext cx="8623873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Inspiration nicht von der Pythonschlange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64127" y="4897814"/>
            <a:ext cx="7565603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Ursprung: Britische</a:t>
            </a: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 Comedy Gruppe Monty Python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64127" y="6273859"/>
            <a:ext cx="8623873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G</a:t>
            </a: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uido van Rossum war von der Show begeistert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64127" y="7649904"/>
            <a:ext cx="8623873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Der Name sollte kurz und einzigartig sein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1156846" cy="908650"/>
          </a:xfrm>
          <a:custGeom>
            <a:avLst/>
            <a:gdLst/>
            <a:ahLst/>
            <a:cxnLst/>
            <a:rect r="r" b="b" t="t" l="l"/>
            <a:pathLst>
              <a:path h="908650" w="1156846">
                <a:moveTo>
                  <a:pt x="0" y="0"/>
                </a:moveTo>
                <a:lnTo>
                  <a:pt x="1156846" y="0"/>
                </a:lnTo>
                <a:lnTo>
                  <a:pt x="1156846" y="908650"/>
                </a:lnTo>
                <a:lnTo>
                  <a:pt x="0" y="90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6102454" y="1028700"/>
            <a:ext cx="1156846" cy="908650"/>
          </a:xfrm>
          <a:custGeom>
            <a:avLst/>
            <a:gdLst/>
            <a:ahLst/>
            <a:cxnLst/>
            <a:rect r="r" b="b" t="t" l="l"/>
            <a:pathLst>
              <a:path h="908650" w="1156846">
                <a:moveTo>
                  <a:pt x="1156846" y="0"/>
                </a:moveTo>
                <a:lnTo>
                  <a:pt x="0" y="0"/>
                </a:lnTo>
                <a:lnTo>
                  <a:pt x="0" y="908650"/>
                </a:lnTo>
                <a:lnTo>
                  <a:pt x="1156846" y="908650"/>
                </a:lnTo>
                <a:lnTo>
                  <a:pt x="115684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0" y="9706610"/>
            <a:ext cx="246358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[1] [2] [7] [6]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30600" y="-20574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69223" y="8417777"/>
            <a:ext cx="3738446" cy="3738446"/>
          </a:xfrm>
          <a:custGeom>
            <a:avLst/>
            <a:gdLst/>
            <a:ahLst/>
            <a:cxnLst/>
            <a:rect r="r" b="b" t="t" l="l"/>
            <a:pathLst>
              <a:path h="3738446" w="3738446">
                <a:moveTo>
                  <a:pt x="0" y="0"/>
                </a:moveTo>
                <a:lnTo>
                  <a:pt x="3738446" y="0"/>
                </a:lnTo>
                <a:lnTo>
                  <a:pt x="3738446" y="3738446"/>
                </a:lnTo>
                <a:lnTo>
                  <a:pt x="0" y="3738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9098584"/>
            <a:ext cx="2385506" cy="2376832"/>
          </a:xfrm>
          <a:custGeom>
            <a:avLst/>
            <a:gdLst/>
            <a:ahLst/>
            <a:cxnLst/>
            <a:rect r="r" b="b" t="t" l="l"/>
            <a:pathLst>
              <a:path h="2376832" w="2385506">
                <a:moveTo>
                  <a:pt x="0" y="0"/>
                </a:moveTo>
                <a:lnTo>
                  <a:pt x="2385506" y="0"/>
                </a:lnTo>
                <a:lnTo>
                  <a:pt x="2385506" y="2376832"/>
                </a:lnTo>
                <a:lnTo>
                  <a:pt x="0" y="23768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4873794" y="-1348132"/>
            <a:ext cx="2385506" cy="2376832"/>
          </a:xfrm>
          <a:custGeom>
            <a:avLst/>
            <a:gdLst/>
            <a:ahLst/>
            <a:cxnLst/>
            <a:rect r="r" b="b" t="t" l="l"/>
            <a:pathLst>
              <a:path h="2376832" w="2385506">
                <a:moveTo>
                  <a:pt x="0" y="2376832"/>
                </a:moveTo>
                <a:lnTo>
                  <a:pt x="2385506" y="2376832"/>
                </a:lnTo>
                <a:lnTo>
                  <a:pt x="2385506" y="0"/>
                </a:lnTo>
                <a:lnTo>
                  <a:pt x="0" y="0"/>
                </a:lnTo>
                <a:lnTo>
                  <a:pt x="0" y="23768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466659" y="8512647"/>
            <a:ext cx="1516114" cy="1491305"/>
          </a:xfrm>
          <a:custGeom>
            <a:avLst/>
            <a:gdLst/>
            <a:ahLst/>
            <a:cxnLst/>
            <a:rect r="r" b="b" t="t" l="l"/>
            <a:pathLst>
              <a:path h="1491305" w="1516114">
                <a:moveTo>
                  <a:pt x="0" y="0"/>
                </a:moveTo>
                <a:lnTo>
                  <a:pt x="1516115" y="0"/>
                </a:lnTo>
                <a:lnTo>
                  <a:pt x="1516115" y="1491306"/>
                </a:lnTo>
                <a:lnTo>
                  <a:pt x="0" y="149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700000">
            <a:off x="270643" y="283047"/>
            <a:ext cx="1516114" cy="1491305"/>
          </a:xfrm>
          <a:custGeom>
            <a:avLst/>
            <a:gdLst/>
            <a:ahLst/>
            <a:cxnLst/>
            <a:rect r="r" b="b" t="t" l="l"/>
            <a:pathLst>
              <a:path h="1491305" w="1516114">
                <a:moveTo>
                  <a:pt x="0" y="0"/>
                </a:moveTo>
                <a:lnTo>
                  <a:pt x="1516114" y="0"/>
                </a:lnTo>
                <a:lnTo>
                  <a:pt x="1516114" y="1491306"/>
                </a:lnTo>
                <a:lnTo>
                  <a:pt x="0" y="149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19426" y="9951733"/>
            <a:ext cx="3879747" cy="3047365"/>
          </a:xfrm>
          <a:custGeom>
            <a:avLst/>
            <a:gdLst/>
            <a:ahLst/>
            <a:cxnLst/>
            <a:rect r="r" b="b" t="t" l="l"/>
            <a:pathLst>
              <a:path h="3047365" w="3879747">
                <a:moveTo>
                  <a:pt x="0" y="0"/>
                </a:moveTo>
                <a:lnTo>
                  <a:pt x="3879748" y="0"/>
                </a:lnTo>
                <a:lnTo>
                  <a:pt x="3879748" y="3047365"/>
                </a:lnTo>
                <a:lnTo>
                  <a:pt x="0" y="30473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-911174" y="-2692541"/>
            <a:ext cx="3879747" cy="3047365"/>
          </a:xfrm>
          <a:custGeom>
            <a:avLst/>
            <a:gdLst/>
            <a:ahLst/>
            <a:cxnLst/>
            <a:rect r="r" b="b" t="t" l="l"/>
            <a:pathLst>
              <a:path h="3047365" w="3879747">
                <a:moveTo>
                  <a:pt x="3879748" y="3047365"/>
                </a:moveTo>
                <a:lnTo>
                  <a:pt x="0" y="3047365"/>
                </a:lnTo>
                <a:lnTo>
                  <a:pt x="0" y="0"/>
                </a:lnTo>
                <a:lnTo>
                  <a:pt x="3879748" y="0"/>
                </a:lnTo>
                <a:lnTo>
                  <a:pt x="3879748" y="304736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332884" y="3254467"/>
            <a:ext cx="5009685" cy="5232710"/>
            <a:chOff x="0" y="0"/>
            <a:chExt cx="1319423" cy="13781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19423" cy="1378162"/>
            </a:xfrm>
            <a:custGeom>
              <a:avLst/>
              <a:gdLst/>
              <a:ahLst/>
              <a:cxnLst/>
              <a:rect r="r" b="b" t="t" l="l"/>
              <a:pathLst>
                <a:path h="1378162" w="1319423">
                  <a:moveTo>
                    <a:pt x="78815" y="0"/>
                  </a:moveTo>
                  <a:lnTo>
                    <a:pt x="1240608" y="0"/>
                  </a:lnTo>
                  <a:cubicBezTo>
                    <a:pt x="1284137" y="0"/>
                    <a:pt x="1319423" y="35287"/>
                    <a:pt x="1319423" y="78815"/>
                  </a:cubicBezTo>
                  <a:lnTo>
                    <a:pt x="1319423" y="1299347"/>
                  </a:lnTo>
                  <a:cubicBezTo>
                    <a:pt x="1319423" y="1342876"/>
                    <a:pt x="1284137" y="1378162"/>
                    <a:pt x="1240608" y="1378162"/>
                  </a:cubicBezTo>
                  <a:lnTo>
                    <a:pt x="78815" y="1378162"/>
                  </a:lnTo>
                  <a:cubicBezTo>
                    <a:pt x="57912" y="1378162"/>
                    <a:pt x="37865" y="1369859"/>
                    <a:pt x="23084" y="1355078"/>
                  </a:cubicBezTo>
                  <a:cubicBezTo>
                    <a:pt x="8304" y="1340297"/>
                    <a:pt x="0" y="1320250"/>
                    <a:pt x="0" y="1299347"/>
                  </a:cubicBezTo>
                  <a:lnTo>
                    <a:pt x="0" y="78815"/>
                  </a:lnTo>
                  <a:cubicBezTo>
                    <a:pt x="0" y="57912"/>
                    <a:pt x="8304" y="37865"/>
                    <a:pt x="23084" y="23084"/>
                  </a:cubicBezTo>
                  <a:cubicBezTo>
                    <a:pt x="37865" y="8304"/>
                    <a:pt x="57912" y="0"/>
                    <a:pt x="78815" y="0"/>
                  </a:cubicBezTo>
                  <a:close/>
                </a:path>
              </a:pathLst>
            </a:custGeom>
            <a:ln w="38100" cap="rnd">
              <a:solidFill>
                <a:srgbClr val="00BFA5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319423" cy="14448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791511" y="3411756"/>
            <a:ext cx="4092430" cy="1243001"/>
            <a:chOff x="0" y="0"/>
            <a:chExt cx="1077842" cy="3273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7842" cy="327375"/>
            </a:xfrm>
            <a:custGeom>
              <a:avLst/>
              <a:gdLst/>
              <a:ahLst/>
              <a:cxnLst/>
              <a:rect r="r" b="b" t="t" l="l"/>
              <a:pathLst>
                <a:path h="327375" w="1077842">
                  <a:moveTo>
                    <a:pt x="66212" y="0"/>
                  </a:moveTo>
                  <a:lnTo>
                    <a:pt x="1011630" y="0"/>
                  </a:lnTo>
                  <a:cubicBezTo>
                    <a:pt x="1029190" y="0"/>
                    <a:pt x="1046032" y="6976"/>
                    <a:pt x="1058449" y="19393"/>
                  </a:cubicBezTo>
                  <a:cubicBezTo>
                    <a:pt x="1070866" y="31810"/>
                    <a:pt x="1077842" y="48651"/>
                    <a:pt x="1077842" y="66212"/>
                  </a:cubicBezTo>
                  <a:lnTo>
                    <a:pt x="1077842" y="261163"/>
                  </a:lnTo>
                  <a:cubicBezTo>
                    <a:pt x="1077842" y="278723"/>
                    <a:pt x="1070866" y="295565"/>
                    <a:pt x="1058449" y="307982"/>
                  </a:cubicBezTo>
                  <a:cubicBezTo>
                    <a:pt x="1046032" y="320399"/>
                    <a:pt x="1029190" y="327375"/>
                    <a:pt x="1011630" y="327375"/>
                  </a:cubicBezTo>
                  <a:lnTo>
                    <a:pt x="66212" y="327375"/>
                  </a:lnTo>
                  <a:cubicBezTo>
                    <a:pt x="48651" y="327375"/>
                    <a:pt x="31810" y="320399"/>
                    <a:pt x="19393" y="307982"/>
                  </a:cubicBezTo>
                  <a:cubicBezTo>
                    <a:pt x="6976" y="295565"/>
                    <a:pt x="0" y="278723"/>
                    <a:pt x="0" y="261163"/>
                  </a:cubicBezTo>
                  <a:lnTo>
                    <a:pt x="0" y="66212"/>
                  </a:lnTo>
                  <a:cubicBezTo>
                    <a:pt x="0" y="48651"/>
                    <a:pt x="6976" y="31810"/>
                    <a:pt x="19393" y="19393"/>
                  </a:cubicBezTo>
                  <a:cubicBezTo>
                    <a:pt x="31810" y="6976"/>
                    <a:pt x="48651" y="0"/>
                    <a:pt x="66212" y="0"/>
                  </a:cubicBezTo>
                  <a:close/>
                </a:path>
              </a:pathLst>
            </a:custGeom>
            <a:solidFill>
              <a:srgbClr val="00BFA5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077842" cy="39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294462" y="1569739"/>
            <a:ext cx="5699075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B1919"/>
                </a:solidFill>
                <a:latin typeface="Poppins Bold"/>
                <a:ea typeface="Poppins Bold"/>
                <a:cs typeface="Poppins Bold"/>
                <a:sym typeface="Poppins Bold"/>
              </a:rPr>
              <a:t>Py</a:t>
            </a:r>
            <a:r>
              <a:rPr lang="en-US" b="true" sz="5199">
                <a:solidFill>
                  <a:srgbClr val="1B1919"/>
                </a:solidFill>
                <a:latin typeface="Poppins Bold"/>
                <a:ea typeface="Poppins Bold"/>
                <a:cs typeface="Poppins Bold"/>
                <a:sym typeface="Poppins Bold"/>
              </a:rPr>
              <a:t>thon 1.0 bis 2.0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791511" y="4993377"/>
            <a:ext cx="4092430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F</a:t>
            </a:r>
            <a:r>
              <a:rPr lang="en-US" sz="26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okus auf grundlegende Funktionen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91511" y="3593327"/>
            <a:ext cx="4092430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F5F6F7"/>
                </a:solidFill>
                <a:latin typeface="Manjari Bold"/>
                <a:ea typeface="Manjari Bold"/>
                <a:cs typeface="Manjari Bold"/>
                <a:sym typeface="Manjari Bold"/>
              </a:rPr>
              <a:t>Python 1.0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21003" y="4320277"/>
            <a:ext cx="278975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5F6F7"/>
                </a:solidFill>
                <a:latin typeface="Manjari"/>
                <a:ea typeface="Manjari"/>
                <a:cs typeface="Manjari"/>
                <a:sym typeface="Manjari"/>
              </a:rPr>
              <a:t>Januar 1994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047544" y="3254467"/>
            <a:ext cx="5009685" cy="5232710"/>
            <a:chOff x="0" y="0"/>
            <a:chExt cx="1319423" cy="13781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19423" cy="1378162"/>
            </a:xfrm>
            <a:custGeom>
              <a:avLst/>
              <a:gdLst/>
              <a:ahLst/>
              <a:cxnLst/>
              <a:rect r="r" b="b" t="t" l="l"/>
              <a:pathLst>
                <a:path h="1378162" w="1319423">
                  <a:moveTo>
                    <a:pt x="78815" y="0"/>
                  </a:moveTo>
                  <a:lnTo>
                    <a:pt x="1240608" y="0"/>
                  </a:lnTo>
                  <a:cubicBezTo>
                    <a:pt x="1284137" y="0"/>
                    <a:pt x="1319423" y="35287"/>
                    <a:pt x="1319423" y="78815"/>
                  </a:cubicBezTo>
                  <a:lnTo>
                    <a:pt x="1319423" y="1299347"/>
                  </a:lnTo>
                  <a:cubicBezTo>
                    <a:pt x="1319423" y="1342876"/>
                    <a:pt x="1284137" y="1378162"/>
                    <a:pt x="1240608" y="1378162"/>
                  </a:cubicBezTo>
                  <a:lnTo>
                    <a:pt x="78815" y="1378162"/>
                  </a:lnTo>
                  <a:cubicBezTo>
                    <a:pt x="57912" y="1378162"/>
                    <a:pt x="37865" y="1369859"/>
                    <a:pt x="23084" y="1355078"/>
                  </a:cubicBezTo>
                  <a:cubicBezTo>
                    <a:pt x="8304" y="1340297"/>
                    <a:pt x="0" y="1320250"/>
                    <a:pt x="0" y="1299347"/>
                  </a:cubicBezTo>
                  <a:lnTo>
                    <a:pt x="0" y="78815"/>
                  </a:lnTo>
                  <a:cubicBezTo>
                    <a:pt x="0" y="57912"/>
                    <a:pt x="8304" y="37865"/>
                    <a:pt x="23084" y="23084"/>
                  </a:cubicBezTo>
                  <a:cubicBezTo>
                    <a:pt x="37865" y="8304"/>
                    <a:pt x="57912" y="0"/>
                    <a:pt x="78815" y="0"/>
                  </a:cubicBezTo>
                  <a:close/>
                </a:path>
              </a:pathLst>
            </a:custGeom>
            <a:ln w="38100" cap="rnd">
              <a:solidFill>
                <a:srgbClr val="00BFA5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319423" cy="14448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506172" y="4993377"/>
            <a:ext cx="4092430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List Comprehensions (Listen-Basics)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506172" y="3411756"/>
            <a:ext cx="4092430" cy="1243001"/>
            <a:chOff x="0" y="0"/>
            <a:chExt cx="1077842" cy="3273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7842" cy="327375"/>
            </a:xfrm>
            <a:custGeom>
              <a:avLst/>
              <a:gdLst/>
              <a:ahLst/>
              <a:cxnLst/>
              <a:rect r="r" b="b" t="t" l="l"/>
              <a:pathLst>
                <a:path h="327375" w="1077842">
                  <a:moveTo>
                    <a:pt x="66212" y="0"/>
                  </a:moveTo>
                  <a:lnTo>
                    <a:pt x="1011630" y="0"/>
                  </a:lnTo>
                  <a:cubicBezTo>
                    <a:pt x="1029190" y="0"/>
                    <a:pt x="1046032" y="6976"/>
                    <a:pt x="1058449" y="19393"/>
                  </a:cubicBezTo>
                  <a:cubicBezTo>
                    <a:pt x="1070866" y="31810"/>
                    <a:pt x="1077842" y="48651"/>
                    <a:pt x="1077842" y="66212"/>
                  </a:cubicBezTo>
                  <a:lnTo>
                    <a:pt x="1077842" y="261163"/>
                  </a:lnTo>
                  <a:cubicBezTo>
                    <a:pt x="1077842" y="278723"/>
                    <a:pt x="1070866" y="295565"/>
                    <a:pt x="1058449" y="307982"/>
                  </a:cubicBezTo>
                  <a:cubicBezTo>
                    <a:pt x="1046032" y="320399"/>
                    <a:pt x="1029190" y="327375"/>
                    <a:pt x="1011630" y="327375"/>
                  </a:cubicBezTo>
                  <a:lnTo>
                    <a:pt x="66212" y="327375"/>
                  </a:lnTo>
                  <a:cubicBezTo>
                    <a:pt x="48651" y="327375"/>
                    <a:pt x="31810" y="320399"/>
                    <a:pt x="19393" y="307982"/>
                  </a:cubicBezTo>
                  <a:cubicBezTo>
                    <a:pt x="6976" y="295565"/>
                    <a:pt x="0" y="278723"/>
                    <a:pt x="0" y="261163"/>
                  </a:cubicBezTo>
                  <a:lnTo>
                    <a:pt x="0" y="66212"/>
                  </a:lnTo>
                  <a:cubicBezTo>
                    <a:pt x="0" y="48651"/>
                    <a:pt x="6976" y="31810"/>
                    <a:pt x="19393" y="19393"/>
                  </a:cubicBezTo>
                  <a:cubicBezTo>
                    <a:pt x="31810" y="6976"/>
                    <a:pt x="48651" y="0"/>
                    <a:pt x="66212" y="0"/>
                  </a:cubicBezTo>
                  <a:close/>
                </a:path>
              </a:pathLst>
            </a:custGeom>
            <a:solidFill>
              <a:srgbClr val="00BFA5"/>
            </a:solidFill>
            <a:ln cap="rnd">
              <a:noFill/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1077842" cy="39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506172" y="3593327"/>
            <a:ext cx="4092430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F5F6F7"/>
                </a:solidFill>
                <a:latin typeface="Manjari Bold"/>
                <a:ea typeface="Manjari Bold"/>
                <a:cs typeface="Manjari Bold"/>
                <a:sym typeface="Manjari Bold"/>
              </a:rPr>
              <a:t>Python 2.0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35663" y="4320277"/>
            <a:ext cx="278975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5F6F7"/>
                </a:solidFill>
                <a:latin typeface="Manjari"/>
                <a:ea typeface="Manjari"/>
                <a:cs typeface="Manjari"/>
                <a:sym typeface="Manjari"/>
              </a:rPr>
              <a:t>Oktober 2000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506172" y="6470387"/>
            <a:ext cx="4092430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E</a:t>
            </a:r>
            <a:r>
              <a:rPr lang="en-US" sz="26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inführung der Garbage Collection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791511" y="6698987"/>
            <a:ext cx="409243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Funktionen, Klassen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0" y="9706610"/>
            <a:ext cx="186922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[4] [5] [6]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97785" y="1487036"/>
            <a:ext cx="4092430" cy="1243001"/>
            <a:chOff x="0" y="0"/>
            <a:chExt cx="1077842" cy="3273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7842" cy="327375"/>
            </a:xfrm>
            <a:custGeom>
              <a:avLst/>
              <a:gdLst/>
              <a:ahLst/>
              <a:cxnLst/>
              <a:rect r="r" b="b" t="t" l="l"/>
              <a:pathLst>
                <a:path h="327375" w="1077842">
                  <a:moveTo>
                    <a:pt x="66212" y="0"/>
                  </a:moveTo>
                  <a:lnTo>
                    <a:pt x="1011630" y="0"/>
                  </a:lnTo>
                  <a:cubicBezTo>
                    <a:pt x="1029190" y="0"/>
                    <a:pt x="1046032" y="6976"/>
                    <a:pt x="1058449" y="19393"/>
                  </a:cubicBezTo>
                  <a:cubicBezTo>
                    <a:pt x="1070866" y="31810"/>
                    <a:pt x="1077842" y="48651"/>
                    <a:pt x="1077842" y="66212"/>
                  </a:cubicBezTo>
                  <a:lnTo>
                    <a:pt x="1077842" y="261163"/>
                  </a:lnTo>
                  <a:cubicBezTo>
                    <a:pt x="1077842" y="278723"/>
                    <a:pt x="1070866" y="295565"/>
                    <a:pt x="1058449" y="307982"/>
                  </a:cubicBezTo>
                  <a:cubicBezTo>
                    <a:pt x="1046032" y="320399"/>
                    <a:pt x="1029190" y="327375"/>
                    <a:pt x="1011630" y="327375"/>
                  </a:cubicBezTo>
                  <a:lnTo>
                    <a:pt x="66212" y="327375"/>
                  </a:lnTo>
                  <a:cubicBezTo>
                    <a:pt x="48651" y="327375"/>
                    <a:pt x="31810" y="320399"/>
                    <a:pt x="19393" y="307982"/>
                  </a:cubicBezTo>
                  <a:cubicBezTo>
                    <a:pt x="6976" y="295565"/>
                    <a:pt x="0" y="278723"/>
                    <a:pt x="0" y="261163"/>
                  </a:cubicBezTo>
                  <a:lnTo>
                    <a:pt x="0" y="66212"/>
                  </a:lnTo>
                  <a:cubicBezTo>
                    <a:pt x="0" y="48651"/>
                    <a:pt x="6976" y="31810"/>
                    <a:pt x="19393" y="19393"/>
                  </a:cubicBezTo>
                  <a:cubicBezTo>
                    <a:pt x="31810" y="6976"/>
                    <a:pt x="48651" y="0"/>
                    <a:pt x="66212" y="0"/>
                  </a:cubicBezTo>
                  <a:close/>
                </a:path>
              </a:pathLst>
            </a:custGeom>
            <a:solidFill>
              <a:srgbClr val="00BFA5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077842" cy="39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361634" y="1569739"/>
            <a:ext cx="3564731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B1919"/>
                </a:solidFill>
                <a:latin typeface="Poppins Bold"/>
                <a:ea typeface="Poppins Bold"/>
                <a:cs typeface="Poppins Bold"/>
                <a:sym typeface="Poppins Bold"/>
              </a:rPr>
              <a:t>Py</a:t>
            </a:r>
            <a:r>
              <a:rPr lang="en-US" b="true" sz="5199">
                <a:solidFill>
                  <a:srgbClr val="1B1919"/>
                </a:solidFill>
                <a:latin typeface="Poppins Bold"/>
                <a:ea typeface="Poppins Bold"/>
                <a:cs typeface="Poppins Bold"/>
                <a:sym typeface="Poppins Bold"/>
              </a:rPr>
              <a:t>thon 3.0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414206" y="3185067"/>
            <a:ext cx="11459587" cy="5232710"/>
            <a:chOff x="0" y="0"/>
            <a:chExt cx="3018163" cy="13781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18163" cy="1378162"/>
            </a:xfrm>
            <a:custGeom>
              <a:avLst/>
              <a:gdLst/>
              <a:ahLst/>
              <a:cxnLst/>
              <a:rect r="r" b="b" t="t" l="l"/>
              <a:pathLst>
                <a:path h="1378162" w="3018163">
                  <a:moveTo>
                    <a:pt x="34455" y="0"/>
                  </a:moveTo>
                  <a:lnTo>
                    <a:pt x="2983708" y="0"/>
                  </a:lnTo>
                  <a:cubicBezTo>
                    <a:pt x="2992846" y="0"/>
                    <a:pt x="3001610" y="3630"/>
                    <a:pt x="3008071" y="10092"/>
                  </a:cubicBezTo>
                  <a:cubicBezTo>
                    <a:pt x="3014533" y="16553"/>
                    <a:pt x="3018163" y="25317"/>
                    <a:pt x="3018163" y="34455"/>
                  </a:cubicBezTo>
                  <a:lnTo>
                    <a:pt x="3018163" y="1343707"/>
                  </a:lnTo>
                  <a:cubicBezTo>
                    <a:pt x="3018163" y="1362736"/>
                    <a:pt x="3002737" y="1378162"/>
                    <a:pt x="2983708" y="1378162"/>
                  </a:cubicBezTo>
                  <a:lnTo>
                    <a:pt x="34455" y="1378162"/>
                  </a:lnTo>
                  <a:cubicBezTo>
                    <a:pt x="15426" y="1378162"/>
                    <a:pt x="0" y="1362736"/>
                    <a:pt x="0" y="1343707"/>
                  </a:cubicBezTo>
                  <a:lnTo>
                    <a:pt x="0" y="34455"/>
                  </a:lnTo>
                  <a:cubicBezTo>
                    <a:pt x="0" y="15426"/>
                    <a:pt x="15426" y="0"/>
                    <a:pt x="34455" y="0"/>
                  </a:cubicBezTo>
                  <a:close/>
                </a:path>
              </a:pathLst>
            </a:custGeom>
            <a:ln w="38100" cap="rnd">
              <a:solidFill>
                <a:srgbClr val="00BFA5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3018163" cy="14448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109726" y="3780790"/>
            <a:ext cx="4505139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Codename: „Py3K“ (Python 3000)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09726" y="5086350"/>
            <a:ext cx="5034274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Bew</a:t>
            </a:r>
            <a:r>
              <a:rPr lang="en-US" sz="26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usste Inkompatibilität zu Python 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09726" y="6391910"/>
            <a:ext cx="5034274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Alte Codes w</a:t>
            </a:r>
            <a:r>
              <a:rPr lang="en-US" sz="26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urden absichtlich unbrauchbar gemacht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3780790"/>
            <a:ext cx="5197390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Ziel: Bes</a:t>
            </a:r>
            <a:r>
              <a:rPr lang="en-US" sz="26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eitigung von Altlasten und Designfehlern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5086350"/>
            <a:ext cx="5197390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Notw</a:t>
            </a:r>
            <a:r>
              <a:rPr lang="en-US" sz="26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endige Umstellungsphase in der Industrie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49121" y="2347767"/>
            <a:ext cx="278975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5F6F7"/>
                </a:solidFill>
                <a:latin typeface="Manjari"/>
                <a:ea typeface="Manjari"/>
                <a:cs typeface="Manjari"/>
                <a:sym typeface="Manjari"/>
              </a:rPr>
              <a:t>Dezember 2008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5400000">
            <a:off x="16193900" y="1030641"/>
            <a:ext cx="1067341" cy="1063459"/>
          </a:xfrm>
          <a:custGeom>
            <a:avLst/>
            <a:gdLst/>
            <a:ahLst/>
            <a:cxnLst/>
            <a:rect r="r" b="b" t="t" l="l"/>
            <a:pathLst>
              <a:path h="1063459" w="1067341">
                <a:moveTo>
                  <a:pt x="0" y="0"/>
                </a:moveTo>
                <a:lnTo>
                  <a:pt x="1067341" y="0"/>
                </a:lnTo>
                <a:lnTo>
                  <a:pt x="1067341" y="1063459"/>
                </a:lnTo>
                <a:lnTo>
                  <a:pt x="0" y="10634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400000">
            <a:off x="1031067" y="1030641"/>
            <a:ext cx="1067341" cy="1063459"/>
          </a:xfrm>
          <a:custGeom>
            <a:avLst/>
            <a:gdLst/>
            <a:ahLst/>
            <a:cxnLst/>
            <a:rect r="r" b="b" t="t" l="l"/>
            <a:pathLst>
              <a:path h="1063459" w="1067341">
                <a:moveTo>
                  <a:pt x="0" y="0"/>
                </a:moveTo>
                <a:lnTo>
                  <a:pt x="1067341" y="0"/>
                </a:lnTo>
                <a:lnTo>
                  <a:pt x="1067341" y="1063459"/>
                </a:lnTo>
                <a:lnTo>
                  <a:pt x="0" y="10634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0" y="9706610"/>
            <a:ext cx="118446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[3] [5]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30600" y="-20574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873794" y="-1348132"/>
            <a:ext cx="2385506" cy="2376832"/>
          </a:xfrm>
          <a:custGeom>
            <a:avLst/>
            <a:gdLst/>
            <a:ahLst/>
            <a:cxnLst/>
            <a:rect r="r" b="b" t="t" l="l"/>
            <a:pathLst>
              <a:path h="2376832" w="2385506">
                <a:moveTo>
                  <a:pt x="0" y="2376832"/>
                </a:moveTo>
                <a:lnTo>
                  <a:pt x="2385506" y="2376832"/>
                </a:lnTo>
                <a:lnTo>
                  <a:pt x="2385506" y="0"/>
                </a:lnTo>
                <a:lnTo>
                  <a:pt x="0" y="0"/>
                </a:lnTo>
                <a:lnTo>
                  <a:pt x="0" y="23768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700000">
            <a:off x="270643" y="283047"/>
            <a:ext cx="1516114" cy="1491305"/>
          </a:xfrm>
          <a:custGeom>
            <a:avLst/>
            <a:gdLst/>
            <a:ahLst/>
            <a:cxnLst/>
            <a:rect r="r" b="b" t="t" l="l"/>
            <a:pathLst>
              <a:path h="1491305" w="1516114">
                <a:moveTo>
                  <a:pt x="0" y="0"/>
                </a:moveTo>
                <a:lnTo>
                  <a:pt x="1516114" y="0"/>
                </a:lnTo>
                <a:lnTo>
                  <a:pt x="1516114" y="1491306"/>
                </a:lnTo>
                <a:lnTo>
                  <a:pt x="0" y="149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911174" y="-2692541"/>
            <a:ext cx="3879747" cy="3047365"/>
          </a:xfrm>
          <a:custGeom>
            <a:avLst/>
            <a:gdLst/>
            <a:ahLst/>
            <a:cxnLst/>
            <a:rect r="r" b="b" t="t" l="l"/>
            <a:pathLst>
              <a:path h="3047365" w="3879747">
                <a:moveTo>
                  <a:pt x="3879748" y="3047365"/>
                </a:moveTo>
                <a:lnTo>
                  <a:pt x="0" y="3047365"/>
                </a:lnTo>
                <a:lnTo>
                  <a:pt x="0" y="0"/>
                </a:lnTo>
                <a:lnTo>
                  <a:pt x="3879748" y="0"/>
                </a:lnTo>
                <a:lnTo>
                  <a:pt x="3879748" y="304736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93237" y="3687168"/>
            <a:ext cx="7951488" cy="4497952"/>
          </a:xfrm>
          <a:custGeom>
            <a:avLst/>
            <a:gdLst/>
            <a:ahLst/>
            <a:cxnLst/>
            <a:rect r="r" b="b" t="t" l="l"/>
            <a:pathLst>
              <a:path h="4497952" w="7951488">
                <a:moveTo>
                  <a:pt x="0" y="0"/>
                </a:moveTo>
                <a:lnTo>
                  <a:pt x="7951488" y="0"/>
                </a:lnTo>
                <a:lnTo>
                  <a:pt x="7951488" y="4497952"/>
                </a:lnTo>
                <a:lnTo>
                  <a:pt x="0" y="44979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757937" y="1392843"/>
            <a:ext cx="6772126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B1919"/>
                </a:solidFill>
                <a:latin typeface="Poppins Bold"/>
                <a:ea typeface="Poppins Bold"/>
                <a:cs typeface="Poppins Bold"/>
                <a:sym typeface="Poppins Bold"/>
              </a:rPr>
              <a:t>Der Chef tritt zu</a:t>
            </a:r>
            <a:r>
              <a:rPr lang="en-US" b="true" sz="5199">
                <a:solidFill>
                  <a:srgbClr val="1B1919"/>
                </a:solidFill>
                <a:latin typeface="Poppins Bold"/>
                <a:ea typeface="Poppins Bold"/>
                <a:cs typeface="Poppins Bold"/>
                <a:sym typeface="Poppins Bold"/>
              </a:rPr>
              <a:t>rück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757877"/>
            <a:ext cx="8623873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Rückt</a:t>
            </a: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ritt von Guido van Rossum im Juli 2018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106545"/>
            <a:ext cx="8623873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Alter Titel: BDFL (Be</a:t>
            </a: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nevolent Dictator for Life)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454015"/>
            <a:ext cx="8623873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Überlastung und lange Diskussionen in der Community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801485"/>
            <a:ext cx="8623873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Ne</a:t>
            </a: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ue Struktur: Ein fünfköpfiges Steering Council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148955"/>
            <a:ext cx="8623873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Py</a:t>
            </a: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thon wird heute komplett demokratisch verwaltet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9706610"/>
            <a:ext cx="183809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[1] [7] [6]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30600" y="-20574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873794" y="-1348132"/>
            <a:ext cx="2385506" cy="2376832"/>
          </a:xfrm>
          <a:custGeom>
            <a:avLst/>
            <a:gdLst/>
            <a:ahLst/>
            <a:cxnLst/>
            <a:rect r="r" b="b" t="t" l="l"/>
            <a:pathLst>
              <a:path h="2376832" w="2385506">
                <a:moveTo>
                  <a:pt x="0" y="2376832"/>
                </a:moveTo>
                <a:lnTo>
                  <a:pt x="2385506" y="2376832"/>
                </a:lnTo>
                <a:lnTo>
                  <a:pt x="2385506" y="0"/>
                </a:lnTo>
                <a:lnTo>
                  <a:pt x="0" y="0"/>
                </a:lnTo>
                <a:lnTo>
                  <a:pt x="0" y="23768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700000">
            <a:off x="270643" y="283047"/>
            <a:ext cx="1516114" cy="1491305"/>
          </a:xfrm>
          <a:custGeom>
            <a:avLst/>
            <a:gdLst/>
            <a:ahLst/>
            <a:cxnLst/>
            <a:rect r="r" b="b" t="t" l="l"/>
            <a:pathLst>
              <a:path h="1491305" w="1516114">
                <a:moveTo>
                  <a:pt x="0" y="0"/>
                </a:moveTo>
                <a:lnTo>
                  <a:pt x="1516114" y="0"/>
                </a:lnTo>
                <a:lnTo>
                  <a:pt x="1516114" y="1491306"/>
                </a:lnTo>
                <a:lnTo>
                  <a:pt x="0" y="149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911174" y="-2692541"/>
            <a:ext cx="3879747" cy="3047365"/>
          </a:xfrm>
          <a:custGeom>
            <a:avLst/>
            <a:gdLst/>
            <a:ahLst/>
            <a:cxnLst/>
            <a:rect r="r" b="b" t="t" l="l"/>
            <a:pathLst>
              <a:path h="3047365" w="3879747">
                <a:moveTo>
                  <a:pt x="3879748" y="3047365"/>
                </a:moveTo>
                <a:lnTo>
                  <a:pt x="0" y="3047365"/>
                </a:lnTo>
                <a:lnTo>
                  <a:pt x="0" y="0"/>
                </a:lnTo>
                <a:lnTo>
                  <a:pt x="3879748" y="0"/>
                </a:lnTo>
                <a:lnTo>
                  <a:pt x="3879748" y="304736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91983" y="900184"/>
            <a:ext cx="13974563" cy="1858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B1919"/>
                </a:solidFill>
                <a:latin typeface="Poppins Bold"/>
                <a:ea typeface="Poppins Bold"/>
                <a:cs typeface="Poppins Bold"/>
                <a:sym typeface="Poppins Bold"/>
              </a:rPr>
              <a:t>Warum so beliebt?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574A5"/>
                </a:solidFill>
                <a:latin typeface="Poppins Bold"/>
                <a:ea typeface="Poppins Bold"/>
                <a:cs typeface="Poppins Bold"/>
                <a:sym typeface="Poppins Bold"/>
              </a:rPr>
              <a:t>Einfache Syntax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32063" y="3380389"/>
            <a:ext cx="8623873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Fok</a:t>
            </a: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us auf Lesbarkeit des Quellcodes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32063" y="4165884"/>
            <a:ext cx="8623873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Kaum Sonderzeichen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32063" y="4951379"/>
            <a:ext cx="8623873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Strukturi</a:t>
            </a: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erung durch Absätze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32063" y="5736874"/>
            <a:ext cx="8623873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Cod</a:t>
            </a: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e lässt sich fast wie normales englisch lesen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32063" y="7084344"/>
            <a:ext cx="8623873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Sc</a:t>
            </a: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hnelle Lernerfolge für Anfänger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32063" y="7869839"/>
            <a:ext cx="8623873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Geri</a:t>
            </a: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nger Schreibaufwand im Vergleich zu Java oder C++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9706610"/>
            <a:ext cx="246061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[2] [3] [5] [8]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30600" y="-20574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873794" y="-1348132"/>
            <a:ext cx="2385506" cy="2376832"/>
          </a:xfrm>
          <a:custGeom>
            <a:avLst/>
            <a:gdLst/>
            <a:ahLst/>
            <a:cxnLst/>
            <a:rect r="r" b="b" t="t" l="l"/>
            <a:pathLst>
              <a:path h="2376832" w="2385506">
                <a:moveTo>
                  <a:pt x="0" y="2376832"/>
                </a:moveTo>
                <a:lnTo>
                  <a:pt x="2385506" y="2376832"/>
                </a:lnTo>
                <a:lnTo>
                  <a:pt x="2385506" y="0"/>
                </a:lnTo>
                <a:lnTo>
                  <a:pt x="0" y="0"/>
                </a:lnTo>
                <a:lnTo>
                  <a:pt x="0" y="23768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700000">
            <a:off x="270643" y="283047"/>
            <a:ext cx="1516114" cy="1491305"/>
          </a:xfrm>
          <a:custGeom>
            <a:avLst/>
            <a:gdLst/>
            <a:ahLst/>
            <a:cxnLst/>
            <a:rect r="r" b="b" t="t" l="l"/>
            <a:pathLst>
              <a:path h="1491305" w="1516114">
                <a:moveTo>
                  <a:pt x="0" y="0"/>
                </a:moveTo>
                <a:lnTo>
                  <a:pt x="1516114" y="0"/>
                </a:lnTo>
                <a:lnTo>
                  <a:pt x="1516114" y="1491306"/>
                </a:lnTo>
                <a:lnTo>
                  <a:pt x="0" y="149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911174" y="-2692541"/>
            <a:ext cx="3879747" cy="3047365"/>
          </a:xfrm>
          <a:custGeom>
            <a:avLst/>
            <a:gdLst/>
            <a:ahLst/>
            <a:cxnLst/>
            <a:rect r="r" b="b" t="t" l="l"/>
            <a:pathLst>
              <a:path h="3047365" w="3879747">
                <a:moveTo>
                  <a:pt x="3879748" y="3047365"/>
                </a:moveTo>
                <a:lnTo>
                  <a:pt x="0" y="3047365"/>
                </a:lnTo>
                <a:lnTo>
                  <a:pt x="0" y="0"/>
                </a:lnTo>
                <a:lnTo>
                  <a:pt x="3879748" y="0"/>
                </a:lnTo>
                <a:lnTo>
                  <a:pt x="3879748" y="304736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91983" y="885825"/>
            <a:ext cx="13974563" cy="1858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B1919"/>
                </a:solidFill>
                <a:latin typeface="Poppins Bold"/>
                <a:ea typeface="Poppins Bold"/>
                <a:cs typeface="Poppins Bold"/>
                <a:sym typeface="Poppins Bold"/>
              </a:rPr>
              <a:t>Warum so beliebt?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D242"/>
                </a:solidFill>
                <a:latin typeface="Poppins Bold"/>
                <a:ea typeface="Poppins Bold"/>
                <a:cs typeface="Poppins Bold"/>
                <a:sym typeface="Poppins Bold"/>
              </a:rPr>
              <a:t>Einsatzbereiche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32063" y="3159565"/>
            <a:ext cx="8623873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Extrem</a:t>
            </a: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 vielseitig (General Purpose Language)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32063" y="4594633"/>
            <a:ext cx="8623873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Standardwerkzeug für voll die komplizi</a:t>
            </a: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erten Daten Sachen und Statistiken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32063" y="6027828"/>
            <a:ext cx="8623873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Fu</a:t>
            </a: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ndament für künstliche Intelligenz und Machine Learning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32063" y="7461023"/>
            <a:ext cx="8623873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Verwendu</a:t>
            </a: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ng bei Tech Giganten wie Google, Netflix, NASA und Instagram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9706610"/>
            <a:ext cx="246061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[2] [3] [5] [8]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30600" y="-20574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873794" y="-1348132"/>
            <a:ext cx="2385506" cy="2376832"/>
          </a:xfrm>
          <a:custGeom>
            <a:avLst/>
            <a:gdLst/>
            <a:ahLst/>
            <a:cxnLst/>
            <a:rect r="r" b="b" t="t" l="l"/>
            <a:pathLst>
              <a:path h="2376832" w="2385506">
                <a:moveTo>
                  <a:pt x="0" y="2376832"/>
                </a:moveTo>
                <a:lnTo>
                  <a:pt x="2385506" y="2376832"/>
                </a:lnTo>
                <a:lnTo>
                  <a:pt x="2385506" y="0"/>
                </a:lnTo>
                <a:lnTo>
                  <a:pt x="0" y="0"/>
                </a:lnTo>
                <a:lnTo>
                  <a:pt x="0" y="23768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700000">
            <a:off x="270643" y="283047"/>
            <a:ext cx="1516114" cy="1491305"/>
          </a:xfrm>
          <a:custGeom>
            <a:avLst/>
            <a:gdLst/>
            <a:ahLst/>
            <a:cxnLst/>
            <a:rect r="r" b="b" t="t" l="l"/>
            <a:pathLst>
              <a:path h="1491305" w="1516114">
                <a:moveTo>
                  <a:pt x="0" y="0"/>
                </a:moveTo>
                <a:lnTo>
                  <a:pt x="1516114" y="0"/>
                </a:lnTo>
                <a:lnTo>
                  <a:pt x="1516114" y="1491306"/>
                </a:lnTo>
                <a:lnTo>
                  <a:pt x="0" y="149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911174" y="-2692541"/>
            <a:ext cx="3879747" cy="3047365"/>
          </a:xfrm>
          <a:custGeom>
            <a:avLst/>
            <a:gdLst/>
            <a:ahLst/>
            <a:cxnLst/>
            <a:rect r="r" b="b" t="t" l="l"/>
            <a:pathLst>
              <a:path h="3047365" w="3879747">
                <a:moveTo>
                  <a:pt x="3879748" y="3047365"/>
                </a:moveTo>
                <a:lnTo>
                  <a:pt x="0" y="3047365"/>
                </a:lnTo>
                <a:lnTo>
                  <a:pt x="0" y="0"/>
                </a:lnTo>
                <a:lnTo>
                  <a:pt x="3879748" y="0"/>
                </a:lnTo>
                <a:lnTo>
                  <a:pt x="3879748" y="304736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91983" y="885825"/>
            <a:ext cx="13974563" cy="1858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B1919"/>
                </a:solidFill>
                <a:latin typeface="Poppins Bold"/>
                <a:ea typeface="Poppins Bold"/>
                <a:cs typeface="Poppins Bold"/>
                <a:sym typeface="Poppins Bold"/>
              </a:rPr>
              <a:t>Warum so beliebt?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574A5"/>
                </a:solidFill>
                <a:latin typeface="Poppins Bold"/>
                <a:ea typeface="Poppins Bold"/>
                <a:cs typeface="Poppins Bold"/>
                <a:sym typeface="Poppins Bold"/>
              </a:rPr>
              <a:t>G</a:t>
            </a:r>
            <a:r>
              <a:rPr lang="en-US" sz="5199" b="true">
                <a:solidFill>
                  <a:srgbClr val="507B9F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sz="5199" b="true">
                <a:solidFill>
                  <a:srgbClr val="64829A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sz="5199" b="true">
                <a:solidFill>
                  <a:srgbClr val="768894"/>
                </a:solidFill>
                <a:latin typeface="Poppins Bold"/>
                <a:ea typeface="Poppins Bold"/>
                <a:cs typeface="Poppins Bold"/>
                <a:sym typeface="Poppins Bold"/>
              </a:rPr>
              <a:t>ß</a:t>
            </a:r>
            <a:r>
              <a:rPr lang="en-US" sz="5199" b="true">
                <a:solidFill>
                  <a:srgbClr val="959787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sz="5199" b="true">
                <a:solidFill>
                  <a:srgbClr val="1B1919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5199" b="true">
                <a:solidFill>
                  <a:srgbClr val="959787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sz="5199" b="true">
                <a:solidFill>
                  <a:srgbClr val="A39E81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sz="5199" b="true">
                <a:solidFill>
                  <a:srgbClr val="B1A57A"/>
                </a:solidFill>
                <a:latin typeface="Poppins Bold"/>
                <a:ea typeface="Poppins Bold"/>
                <a:cs typeface="Poppins Bold"/>
                <a:sym typeface="Poppins Bold"/>
              </a:rPr>
              <a:t>m</a:t>
            </a:r>
            <a:r>
              <a:rPr lang="en-US" sz="5199" b="true">
                <a:solidFill>
                  <a:srgbClr val="BEAC73"/>
                </a:solidFill>
                <a:latin typeface="Poppins Bold"/>
                <a:ea typeface="Poppins Bold"/>
                <a:cs typeface="Poppins Bold"/>
                <a:sym typeface="Poppins Bold"/>
              </a:rPr>
              <a:t>m</a:t>
            </a:r>
            <a:r>
              <a:rPr lang="en-US" sz="5199" b="true">
                <a:solidFill>
                  <a:srgbClr val="CBB46B"/>
                </a:solidFill>
                <a:latin typeface="Poppins Bold"/>
                <a:ea typeface="Poppins Bold"/>
                <a:cs typeface="Poppins Bold"/>
                <a:sym typeface="Poppins Bold"/>
              </a:rPr>
              <a:t>u</a:t>
            </a:r>
            <a:r>
              <a:rPr lang="en-US" sz="5199" b="true">
                <a:solidFill>
                  <a:srgbClr val="D9BB62"/>
                </a:solidFill>
                <a:latin typeface="Poppins Bold"/>
                <a:ea typeface="Poppins Bold"/>
                <a:cs typeface="Poppins Bold"/>
                <a:sym typeface="Poppins Bold"/>
              </a:rPr>
              <a:t>n</a:t>
            </a:r>
            <a:r>
              <a:rPr lang="en-US" sz="5199" b="true">
                <a:solidFill>
                  <a:srgbClr val="E5C359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sz="5199" b="true">
                <a:solidFill>
                  <a:srgbClr val="F2CA4F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sz="5199" b="true">
                <a:solidFill>
                  <a:srgbClr val="FFD242"/>
                </a:solidFill>
                <a:latin typeface="Poppins Bold"/>
                <a:ea typeface="Poppins Bold"/>
                <a:cs typeface="Poppins Bold"/>
                <a:sym typeface="Poppins Bold"/>
              </a:rPr>
              <a:t>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32063" y="3159565"/>
            <a:ext cx="8623873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Eine</a:t>
            </a: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 der weltweit größten Entwickler Communities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77593" y="4688010"/>
            <a:ext cx="8623873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Viele gratis hilfen, Foren und Youtube Tutorials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777593" y="6216454"/>
            <a:ext cx="8623873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Der PyPI (Python Package Index) hat über 500.000 vorgef</a:t>
            </a: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ertigte code pakete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32063" y="7744899"/>
            <a:ext cx="8623873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Ständige Weiterentwicklu</a:t>
            </a:r>
            <a:r>
              <a:rPr lang="en-US" sz="3200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9706610"/>
            <a:ext cx="246061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[2] [3] [5] [8]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61695" y="885825"/>
            <a:ext cx="6164610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CDCBCB"/>
                </a:solidFill>
                <a:latin typeface="Poppins Bold"/>
                <a:ea typeface="Poppins Bold"/>
                <a:cs typeface="Poppins Bold"/>
                <a:sym typeface="Poppins Bold"/>
              </a:rPr>
              <a:t>Fazit und Ausblick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35427" y="2960194"/>
            <a:ext cx="8623873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CDCBCB"/>
                </a:solidFill>
                <a:latin typeface="Manjari"/>
                <a:ea typeface="Manjari"/>
                <a:cs typeface="Manjari"/>
                <a:sym typeface="Manjari"/>
              </a:rPr>
              <a:t>Zusammenfassung: Kombination aus Einfachheit, Flexibilität und Community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35427" y="4495615"/>
            <a:ext cx="8623873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CDCBCB"/>
                </a:solidFill>
                <a:latin typeface="Manjari"/>
                <a:ea typeface="Manjari"/>
                <a:cs typeface="Manjari"/>
                <a:sym typeface="Manjari"/>
              </a:rPr>
              <a:t>Python bleibt auf lange Zeit einer der besten Sprachen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35427" y="6033585"/>
            <a:ext cx="8623873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CDCBCB"/>
                </a:solidFill>
                <a:latin typeface="Manjari"/>
                <a:ea typeface="Manjari"/>
                <a:cs typeface="Manjari"/>
                <a:sym typeface="Manjari"/>
              </a:rPr>
              <a:t>Unverzichtbar für zukünftige Technologien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9070" y="2816029"/>
            <a:ext cx="13961540" cy="3959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67"/>
              </a:lnSpc>
            </a:pPr>
            <a:r>
              <a:rPr lang="en-US" sz="3099" spc="145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[1]</a:t>
            </a:r>
            <a:r>
              <a:rPr lang="en-US" sz="3099" spc="145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 https://de.wikipedia.org/wiki/Guido_van_Rossum</a:t>
            </a:r>
          </a:p>
          <a:p>
            <a:pPr algn="just">
              <a:lnSpc>
                <a:spcPts val="3967"/>
              </a:lnSpc>
            </a:pPr>
            <a:r>
              <a:rPr lang="en-US" sz="3099" spc="145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[2] https://de.wikipedia.org/wiki/Python_(Programmiersprache)</a:t>
            </a:r>
          </a:p>
          <a:p>
            <a:pPr algn="just">
              <a:lnSpc>
                <a:spcPts val="3967"/>
              </a:lnSpc>
            </a:pPr>
            <a:r>
              <a:rPr lang="en-US" sz="3099" spc="145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[3] https://docs.python.org/3/whatsnew/3.0.html</a:t>
            </a:r>
          </a:p>
          <a:p>
            <a:pPr algn="just">
              <a:lnSpc>
                <a:spcPts val="3967"/>
              </a:lnSpc>
            </a:pPr>
            <a:r>
              <a:rPr lang="en-US" sz="3099" spc="145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[4] https://docs.python.org/3/whatsnew/2.0.html</a:t>
            </a:r>
          </a:p>
          <a:p>
            <a:pPr algn="just">
              <a:lnSpc>
                <a:spcPts val="3967"/>
              </a:lnSpc>
            </a:pPr>
            <a:r>
              <a:rPr lang="en-US" sz="3099" spc="145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[5] https://www.python.org/downloads/</a:t>
            </a:r>
          </a:p>
          <a:p>
            <a:pPr algn="just">
              <a:lnSpc>
                <a:spcPts val="3967"/>
              </a:lnSpc>
            </a:pPr>
            <a:r>
              <a:rPr lang="en-US" sz="3099" spc="145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[6] https://en.wikipedia.org/wiki/History_of_Python</a:t>
            </a:r>
          </a:p>
          <a:p>
            <a:pPr algn="just">
              <a:lnSpc>
                <a:spcPts val="3967"/>
              </a:lnSpc>
            </a:pPr>
            <a:r>
              <a:rPr lang="en-US" sz="3099" spc="145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[7] https://www.tutorialspoint.com/python/python_history.htm</a:t>
            </a:r>
          </a:p>
          <a:p>
            <a:pPr algn="just">
              <a:lnSpc>
                <a:spcPts val="3967"/>
              </a:lnSpc>
            </a:pPr>
            <a:r>
              <a:rPr lang="en-US" sz="3099" spc="145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[8] https://www.tiobe.com/tiobe-index/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9816317" cy="10287000"/>
          </a:xfrm>
          <a:custGeom>
            <a:avLst/>
            <a:gdLst/>
            <a:ahLst/>
            <a:cxnLst/>
            <a:rect r="r" b="b" t="t" l="l"/>
            <a:pathLst>
              <a:path h="10287000" w="19816317">
                <a:moveTo>
                  <a:pt x="0" y="0"/>
                </a:moveTo>
                <a:lnTo>
                  <a:pt x="19816317" y="0"/>
                </a:lnTo>
                <a:lnTo>
                  <a:pt x="1981631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DAHMcI2dvig</dc:identifier>
  <dcterms:modified xsi:type="dcterms:W3CDTF">2011-08-01T06:04:30Z</dcterms:modified>
  <cp:revision>1</cp:revision>
  <dc:title>Die Entstehung von Python</dc:title>
</cp:coreProperties>
</file>